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324E8"/>
                </a:solidFill>
              </a:defRPr>
            </a:pPr>
            <a:r>
              <a:t>AI CONSULTING LAB | BOOTCAMP NOVA GERAÇÃO — ELOGROUP</a:t>
            </a:r>
          </a:p>
          <a:p>
            <a:pPr>
              <a:spcBef>
                <a:spcPts val="1400"/>
              </a:spcBef>
              <a:defRPr sz="3400" b="1">
                <a:solidFill>
                  <a:srgbClr val="111119"/>
                </a:solidFill>
              </a:defRPr>
            </a:pPr>
            <a:r>
              <a:t>Projeto Vértice: O Plano de 90 Dias para Recuperação de Margem e Liquidez</a:t>
            </a:r>
          </a:p>
          <a:p>
            <a:pPr>
              <a:spcBef>
                <a:spcPts val="1000"/>
              </a:spcBef>
              <a:defRPr sz="1700">
                <a:solidFill>
                  <a:srgbClr val="50555F"/>
                </a:solidFill>
              </a:defRPr>
            </a:pPr>
            <a:r>
              <a:t>Diagnóstico Forense de Dados, Solução Dual com Inteligência Artificial e Business Case Executivo</a:t>
            </a:r>
          </a:p>
          <a:p>
            <a:pPr>
              <a:spcBef>
                <a:spcPts val="2800"/>
              </a:spcBef>
              <a:defRPr sz="1400" b="1">
                <a:solidFill>
                  <a:srgbClr val="282832"/>
                </a:solidFill>
              </a:defRPr>
            </a:pPr>
            <a:r>
              <a:t>Equipe / Grupo 18: Pedro Ribeiro (@pedrorpr) &amp; Ingrid Soares (@ingrdsoares)</a:t>
            </a:r>
            <a:br/>
            <a:r>
              <a:t>Mentoria Técnica: Coutinho, EloGroup | Data da Banca: 23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947F3"/>
                </a:solidFill>
              </a:defRPr>
            </a:pPr>
            <a:r>
              <a:t>GRUPO 18 | PITCH FINAL (23/09) — APRESENTADOR(A): PEDRO RIBEIRO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2: Diagnóstico do Negócio — O Paradoxo do Crescimento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A Vértice Retail acelerou em faturamento (R$ 20,5M), mas perdeu eficiência e asfixiou o caixa.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Faturamento Anual Robusto: R$ 20.526.133,84 brutos (27.759 transações em 13 meses).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Crescimento Puxado por Mídia Digital: Google Ads, Instagram Ads, TikTok Ads e Marketplace.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O Paradoxo da Rentabilidade: O crescimento não se traduziu em lucro operacional nem em caixa livre.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A Pergunta da Diretoria: Como usar dados e IA para recuperar margem e produtividade nos próximos 90 dias?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947F3"/>
                </a:solidFill>
              </a:defRPr>
            </a:pPr>
            <a:r>
              <a:t>GRUPO 18 | PITCH FINAL (23/09) — APRESENTADOR(A): PEDRO RIBEIRO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3: Árvore de Problemas (Issue Tree)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Estruturação lógica e causal: Onde o valor da Vértice Retail está vazando.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Pilar 1 - Capital Imobilizado: Compras descoladas do sell-through histórico (R$ 38M/ano em custo de capital).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Pilar 2 - Devoluções Operacionais: 14,87% de devoluções sacrificando R$ 1,52M de margem de contribuição direta.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Pilar 3 - Atendimento Analógico: 35.841 chamados custando R$ 532k, drenados por 10.765 dúvidas repetitivas de rastreio.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Pilar 4 - Vazamento Comercial: 491 pedidos com margem negativa por descontos agressivos associados a frete alto.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947F3"/>
                </a:solidFill>
              </a:defRPr>
            </a:pPr>
            <a:r>
              <a:t>GRUPO 18 | PITCH FINAL (23/09) — APRESENTADOR(A): PEDRO RIBEIRO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4: Os Três Grandes Fatos Inquestionáveis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Evidências empíricas da auditoria: Os números reais que desmistificam os sintomas superficiais.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Fato 1: R$ 348,70M em Estoque Físico a Custo (1,67 milhão de peças para 97k vendas/ano = 42,1 anos de giro!).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Fato 2: 82 SKUs com ZERO vendas em 13 meses imobilizando R$ 6,68M de caixa; Moda concentra 864k peças (51,7%).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Fato 3: 69,6% das Devoluções decorrem de falhas operacionais evitáveis: Defeito (25,2%), Tamanho Errado (24,8%) e Atraso (19,6%).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Fato 4: 10.765 chamados de suporte (30%) perguntando onde está o pedido, com espera média de 135 minutos.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947F3"/>
                </a:solidFill>
              </a:defRPr>
            </a:pPr>
            <a:r>
              <a:t>GRUPO 18 | PITCH FINAL (23/09) — APRESENTADOR(A): PEDRO RIBEIRO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5: Oportunidades Priorizadas &amp; Passagem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Matriz Impacto × Esforço: Estancar sangrias em 30 dias e liberar mais de R$ 70M em 90 dias.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Quick Win 1 (30 Dias): Trava no checkout contra margem negativa (protege R$ 38,5k de prejuízo direto).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Quick Win 2 (30 Dias): Automação do rastreamento de pedidos no SAC via WhatsApp (economiza R$ 127k).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Iniciativa Estrutural 1 (60-90 Dias): Desmobilização de 20% do estoque parado em canais outlet (libera R$ 69,7M em caixa).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Iniciativa Estrutural 2 (60 Dias): Provador virtual e SLA de defeito com fornecedores (recupera R$ 456k de margem).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Transição: "Agora a Ingrid vai demonstrar como transformamos esse diagnóstico em uma solução prática com IA!"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324E8"/>
                </a:solidFill>
              </a:defRPr>
            </a:pPr>
            <a:r>
              <a:t>GRUPO 18 | PITCH FINAL (23/09) — APRESENTADOR(A): INGRID SOARES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6: A Solução com Inteligência Artificial — Arquitetura 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Dois módulos complementares para atacar o gargalo do cliente na ponta e no inventário.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Módulo B - Agente Inteligente de Atendimento (WhatsApp / Chatbot): IA Generativa conectada ao ERP e transportadoras.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Capacidades do Módulo B: Triagem de intenção, análise de sentimento e resolução de 80%+ do rastreio em &lt;10s.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Módulo C - Motor de Priorização de Margem &amp; Estoque: Algoritmo que classifica o catálogo em 4 quadrantes.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Capacidades do Módulo C: Liquidação cirúrgica de SKUs parados com preço &gt;= custo contábil e trava de checkout.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324E8"/>
                </a:solidFill>
              </a:defRPr>
            </a:pPr>
            <a:r>
              <a:t>GRUPO 18 | PITCH FINAL (23/09) — APRESENTADOR(A): INGRID SOARES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7: Demonstração do Protótipo em 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Inteligência Artificial testada e validada em casos reais da base de dados da Vértice Retail.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Demonstração 1 (Rastreio): Cliente pergunta onde está a encomenda -&gt; Agente consulta API e responde em 3 segundos.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Demonstração 2 (Defeito): Cliente relata peça rasgada -&gt; Agente detecta sentimento crítico e gera etiqueta de postagem reversa.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Demonstração 3 (Motor de Margem): Identificação instantânea dos 82 SKUs sem giro (R$ 6,68M) direcionados para o outlet.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Demonstração 4 (Checkout Seguro): Simulação de pedido com margem negativa bloqueado e readequado em tempo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324E8"/>
                </a:solidFill>
              </a:defRPr>
            </a:pPr>
            <a:r>
              <a:t>GRUPO 18 | PITCH FINAL (23/09) — APRESENTADOR(A): INGRID SOARES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8: Business Case Executivo &amp; Retorno do Investimento (ROI)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Destravamento de R$ 78,0M em valor total com payback inferior a 30 dias.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Injeção de Liquidez (Desmobilização de Estoque): R$ 69.740.310,00 de caixa livre liberado em 90 dias.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Economia Financeira de Carregamento (CDI 11% a.a.): R$ 7.671.434,00 / ano em redução de despesas com juros.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Margem Bruta Recuperada em Devoluções: R$ 456.956,00 / ano.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Economia de Custo Operacional de Atendimento: R$ 127.728,00 / ano.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Investimento Estimado no Projeto: R$ 250k a R$ 350k | Payback do investimento &lt; 1 mês!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324E8"/>
                </a:solidFill>
              </a:defRPr>
            </a:pPr>
            <a:r>
              <a:t>GRUPO 18 | PITCH FINAL (23/09) — APRESENTADOR(A): INGRID SOARES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9: Roadmap de Implementação 30-60-90 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Cronograma estruturado para capturar resultados rápidos sem gerar ruptura operacional.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Primeiros 30 Dias (Estancamento): Trava no checkout + Piloto do Agente de Rastreio no WhatsApp.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31 a 60 Dias (Otimização): Motor de Margem ativo para desova de SKUs parados + Guia de medidas em Moda.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61 a 90 Dias (Governança): Modelo preditivo de compras de suprimentos integrado ao ERP + Dashboard da Diretoria.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Metodologia Ágil: Sprints quinzenais com acompanhamento direto do CEO, CFO, CMO e COO.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324E8"/>
                </a:solidFill>
              </a:defRPr>
            </a:pPr>
            <a:r>
              <a:t>GRUPO 18 | PITCH FINAL (23/09) — APRESENTADOR(A): INGRID SOARES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10: Riscos, Governança &amp; Mitigação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Garantindo confiabilidade algorítmica, conformidade com LGPD e adoção pelas equipes.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Blindagem Anti-Alucinação: Arquitetura RAG com guardrails rígidos; o agente só informa dados confirmados pela API.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Proteção de Margem: Algoritmo impede qualquer desconto que resulte em venda abaixo do custo contábil.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Conformidade com LGPD: Mascaramento de dados sensíveis de clientes (CPF, endereço e cartão).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Gestão de Mudança: Capacitação dos atendentes de N1 para atuarem como consultores especialistas de N2.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324E8"/>
                </a:solidFill>
              </a:defRPr>
            </a:pPr>
            <a:r>
              <a:t>GRUPO 18 | PITCH FINAL (23/09) — APRESENTADOR(A): INGRID SOARES &amp; PEDRO RIBEIRO</a:t>
            </a:r>
          </a:p>
          <a:p>
            <a:pPr>
              <a:defRPr sz="2400" b="1">
                <a:solidFill>
                  <a:srgbClr val="111111"/>
                </a:solidFill>
              </a:defRPr>
            </a:pPr>
            <a:r>
              <a:t>Slide 11: Recomendação Final &amp; Decisão da Diretoria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50"/>
                </a:solidFill>
              </a:defRPr>
            </a:pPr>
            <a:r>
              <a:t>A oportunidade de transformar a Vértice em uma referência de rentabilidade e eficiência com 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A Conclusão: A Vértice tem tração comercial comprovada, mas perdia rentabilidade no pós-venda e nas compras.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A Solução: Tecnologia aplicada onde o retorno é imediato e mensurável (Atendimento e Estoque).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A Decisão Solicitada: Aprovação do piloto da Fase 1 nesta semana com início da integração de APIs amanhã.</a:t>
            </a:r>
          </a:p>
          <a:p>
            <a:pPr>
              <a:spcBef>
                <a:spcPts val="1400"/>
              </a:spcBef>
              <a:defRPr sz="1400">
                <a:solidFill>
                  <a:srgbClr val="28282D"/>
                </a:solidFill>
              </a:defRPr>
            </a:pPr>
            <a:r>
              <a:t>•  Agradecimento: Muito obrigado à banca avaliadora e à mentoria técnica da EloGroup!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